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paper: arXiv:2609.34422v1. Approximately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16. Source: public arXiv:2609.34422v1. See slides/outline.md for provenance and speaking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iruiluo.github.io/agentmemorygym/" TargetMode="External"/><Relationship Id="rId4" Type="http://schemas.openxmlformats.org/officeDocument/2006/relationships/hyperlink" Target="https://arxiv.org/abs/2609.34422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iruiluo.github.io/agentmemorygym/" TargetMode="External"/><Relationship Id="rId3" Type="http://schemas.openxmlformats.org/officeDocument/2006/relationships/hyperlink" Target="https://arxiv.org/abs/2609.34422" TargetMode="Externa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201168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051560"/>
            <a:ext cx="826617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</a:rPr>
              <a:t>Coding Agent Memory Post-training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691640"/>
            <a:ext cx="82661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Unlocking the Memory Potential of Pre-trained File Operations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for Long-Horizon Tasks via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8138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40" b="0">
                <a:solidFill>
                  <a:srgbClr val="555555"/>
                </a:solidFill>
                <a:latin typeface="Arial"/>
              </a:rPr>
              <a:t>Lirui Luo · Kelong Mao · Heming Xia · Rongqing Li · Xinwei Yang · Luyu Chen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40" b="0">
                <a:solidFill>
                  <a:srgbClr val="555555"/>
                </a:solidFill>
                <a:latin typeface="Arial"/>
              </a:rPr>
              <a:t>Kieran Wong · Yudong Guo · Xinrui Wang · Jiayin Zhu · Simiu Gu · Sulong Xu · Cong Fang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15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JD.com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04487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Arial"/>
              </a:rPr>
              <a:t>Project: </a:t>
            </a:r>
            <a:r>
              <a:rPr sz="1040" b="0">
                <a:solidFill>
                  <a:srgbClr val="285F91"/>
                </a:solidFill>
                <a:latin typeface="Arial"/>
                <a:hlinkClick r:id="rId3"/>
              </a:rPr>
              <a:t>liruiluo.github.io/agentmemorygym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3904487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40" b="1">
                <a:solidFill>
                  <a:srgbClr val="111111"/>
                </a:solidFill>
                <a:latin typeface="Arial"/>
              </a:rPr>
              <a:t>Paper: </a:t>
            </a:r>
            <a:r>
              <a:rPr sz="1040" b="0">
                <a:solidFill>
                  <a:srgbClr val="285F91"/>
                </a:solidFill>
                <a:latin typeface="Arial"/>
                <a:hlinkClick r:id="rId4"/>
              </a:rPr>
              <a:t>arXiv:2609.34422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4352544"/>
            <a:ext cx="7955280" cy="0"/>
          </a:xfrm>
          <a:prstGeom prst="line">
            <a:avLst/>
          </a:prstGeom>
          <a:ln w="13970">
            <a:solidFill>
              <a:srgbClr val="CC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4048" y="4553712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285F91"/>
                </a:solidFill>
                <a:latin typeface="Arial"/>
              </a:rPr>
              <a:t>Files as learned memory</a:t>
            </a:r>
            <a:r>
              <a:rPr sz="1650" b="0">
                <a:solidFill>
                  <a:srgbClr val="111111"/>
                </a:solidFill>
                <a:latin typeface="Arial"/>
              </a:rPr>
              <a:t>: 54.4% success across four task worlds.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50" b="0">
                <a:solidFill>
                  <a:srgbClr val="111111"/>
                </a:solidFill>
                <a:latin typeface="Arial"/>
              </a:rPr>
              <a:t>Long tasks need state that outlives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5953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Earlier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42432" y="859536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After context replacement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38344" y="1188720"/>
            <a:ext cx="0" cy="2935224"/>
          </a:xfrm>
          <a:prstGeom prst="line">
            <a:avLst/>
          </a:prstGeom>
          <a:ln w="13970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1572768"/>
            <a:ext cx="10241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Context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682496" y="1362456"/>
            <a:ext cx="2834640" cy="1078992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82496" y="1362456"/>
            <a:ext cx="2834640" cy="329184"/>
          </a:xfrm>
          <a:prstGeom prst="rect">
            <a:avLst/>
          </a:prstGeom>
          <a:solidFill>
            <a:srgbClr val="EAF1F8"/>
          </a:solidFill>
          <a:ln w="762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1368" y="1421892"/>
            <a:ext cx="25968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85F91"/>
                </a:solidFill>
                <a:latin typeface="Arial"/>
              </a:rPr>
              <a:t>Active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7944" y="1883664"/>
            <a:ext cx="252374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Menlo"/>
              </a:rPr>
              <a:t>plan + evidence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Menlo"/>
              </a:rPr>
              <a:t>intermediate results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62856" y="1828800"/>
            <a:ext cx="987552" cy="0"/>
          </a:xfrm>
          <a:prstGeom prst="line">
            <a:avLst/>
          </a:prstGeom>
          <a:ln w="21590">
            <a:solidFill>
              <a:srgbClr val="C819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50992" y="1490472"/>
            <a:ext cx="2724912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C8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5" y="1527048"/>
            <a:ext cx="2615184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C8192E"/>
                </a:solidFill>
                <a:latin typeface="Arial"/>
              </a:rPr>
              <a:t>Recover lost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2368296"/>
            <a:ext cx="27249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C8192E"/>
                </a:solidFill>
                <a:latin typeface="Arial"/>
              </a:rPr>
              <a:t>Repeated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081528"/>
            <a:ext cx="1179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85F91"/>
                </a:solidFill>
                <a:latin typeface="Arial"/>
              </a:rPr>
              <a:t>CAMG-RL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82496" y="2852928"/>
            <a:ext cx="2834640" cy="1014984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82496" y="2852928"/>
            <a:ext cx="2834640" cy="329184"/>
          </a:xfrm>
          <a:prstGeom prst="rect">
            <a:avLst/>
          </a:prstGeom>
          <a:solidFill>
            <a:srgbClr val="EAF1F8"/>
          </a:solidFill>
          <a:ln w="762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1368" y="2912364"/>
            <a:ext cx="25968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85F91"/>
                </a:solidFill>
                <a:latin typeface="Arial"/>
              </a:rPr>
              <a:t>Save working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7944" y="3374136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Menlo"/>
              </a:rPr>
              <a:t>notes.md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Menlo"/>
              </a:rPr>
              <a:t>CONTINUATION.md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62856" y="3346704"/>
            <a:ext cx="987552" cy="0"/>
          </a:xfrm>
          <a:prstGeom prst="line">
            <a:avLst/>
          </a:prstGeom>
          <a:ln w="2159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650992" y="2999232"/>
            <a:ext cx="2724912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5855" y="3035808"/>
            <a:ext cx="2615184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85F91"/>
                </a:solidFill>
                <a:latin typeface="Arial"/>
              </a:rPr>
              <a:t>Read → act → finish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023360"/>
            <a:ext cx="6537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285F91"/>
                </a:solidFill>
                <a:latin typeface="Arial"/>
              </a:rPr>
              <a:t>Files persist across the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C8192E"/>
                </a:solidFill>
                <a:latin typeface="Arial"/>
              </a:rPr>
              <a:t>Durable state</a:t>
            </a:r>
            <a:r>
              <a:rPr sz="1700" b="0">
                <a:solidFill>
                  <a:srgbClr val="111111"/>
                </a:solidFill>
                <a:latin typeface="Arial"/>
              </a:rPr>
              <a:t> lets the next context continue the same task.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Figure 1 · schematic of context-only and file-memory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20" b="0">
                <a:solidFill>
                  <a:srgbClr val="111111"/>
                </a:solidFill>
                <a:latin typeface="Arial"/>
              </a:rPr>
              <a:t>Can task reward unlock the prior in file operations?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A familiar action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26464"/>
            <a:ext cx="3877056" cy="1664208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426464"/>
            <a:ext cx="3877056" cy="329184"/>
          </a:xfrm>
          <a:prstGeom prst="rect">
            <a:avLst/>
          </a:prstGeom>
          <a:solidFill>
            <a:srgbClr val="EAF1F8"/>
          </a:solidFill>
          <a:ln w="762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485900"/>
            <a:ext cx="36393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85F91"/>
                </a:solidFill>
                <a:latin typeface="Arial"/>
              </a:rPr>
              <a:t>shell_command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47672"/>
            <a:ext cx="3566160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>
                <a:solidFill>
                  <a:srgbClr val="111111"/>
                </a:solidFill>
                <a:latin typeface="Menlo"/>
              </a:rPr>
              <a:t>cat &gt; notes.md       # store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>
                <a:solidFill>
                  <a:srgbClr val="111111"/>
                </a:solidFill>
                <a:latin typeface="Menlo"/>
              </a:rPr>
              <a:t>grep -n fact notes.md # find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>
                <a:solidFill>
                  <a:srgbClr val="111111"/>
                </a:solidFill>
                <a:latin typeface="Menlo"/>
              </a:rPr>
              <a:t>cat notes.md         # read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>
                <a:solidFill>
                  <a:srgbClr val="111111"/>
                </a:solidFill>
                <a:latin typeface="Menlo"/>
              </a:rPr>
              <a:t>python revise.py     # revise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46704"/>
            <a:ext cx="3767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Available from pre-training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832104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A learned memory strategy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93208" y="1527048"/>
            <a:ext cx="1325880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563624"/>
            <a:ext cx="1216152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85F91"/>
                </a:solidFill>
                <a:latin typeface="Arial"/>
              </a:rPr>
              <a:t>Write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4888" y="1527048"/>
            <a:ext cx="1325880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1" y="1563624"/>
            <a:ext cx="1216152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85F91"/>
                </a:solidFill>
                <a:latin typeface="Arial"/>
              </a:rPr>
              <a:t>Read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46520" y="1837943"/>
            <a:ext cx="548640" cy="0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89320" y="2852928"/>
            <a:ext cx="1956816" cy="603504"/>
          </a:xfrm>
          <a:prstGeom prst="rect">
            <a:avLst/>
          </a:prstGeom>
          <a:solidFill>
            <a:srgbClr val="FFFFFF"/>
          </a:solidFill>
          <a:ln w="13970">
            <a:solidFill>
              <a:srgbClr val="C8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4183" y="2889504"/>
            <a:ext cx="18470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C8192E"/>
                </a:solidFill>
                <a:latin typeface="Arial"/>
              </a:rPr>
              <a:t>Task reward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81544" y="2185416"/>
            <a:ext cx="0" cy="576072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2368296"/>
            <a:ext cx="13441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use in the task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760720" y="3154680"/>
            <a:ext cx="182880" cy="0"/>
          </a:xfrm>
          <a:prstGeom prst="line">
            <a:avLst/>
          </a:prstGeom>
          <a:ln w="13970">
            <a:solidFill>
              <a:srgbClr val="C81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760720" y="2212848"/>
            <a:ext cx="0" cy="941832"/>
          </a:xfrm>
          <a:prstGeom prst="line">
            <a:avLst/>
          </a:prstGeom>
          <a:ln w="13970">
            <a:solidFill>
              <a:srgbClr val="C819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56048" y="3685032"/>
            <a:ext cx="376732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C8192E"/>
                </a:solidFill>
                <a:latin typeface="Arial"/>
              </a:rPr>
              <a:t>learn when / what to retain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C8192E"/>
                </a:solidFill>
                <a:latin typeface="Arial"/>
              </a:rPr>
              <a:t>CAMG-RL</a:t>
            </a:r>
            <a:r>
              <a:rPr sz="1700" b="0">
                <a:solidFill>
                  <a:srgbClr val="111111"/>
                </a:solidFill>
                <a:latin typeface="Arial"/>
              </a:rPr>
              <a:t> trains the use of ordinary files from downstream task reward.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Introduction · the commands illustrate the common executable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50" b="0">
                <a:solidFill>
                  <a:srgbClr val="111111"/>
                </a:solidFill>
                <a:latin typeface="Arial"/>
              </a:rPr>
              <a:t>CAMG connects four long-horizon task worlds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905256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285F91"/>
                </a:solidFill>
                <a:latin typeface="Arial"/>
              </a:rPr>
              <a:t>Shop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0624" y="1307592"/>
            <a:ext cx="1938528" cy="0"/>
          </a:xfrm>
          <a:prstGeom prst="line">
            <a:avLst/>
          </a:prstGeom>
          <a:ln w="13970">
            <a:solidFill>
              <a:srgbClr val="28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615184" y="905256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285F91"/>
                </a:solidFill>
                <a:latin typeface="Arial"/>
              </a:rPr>
              <a:t>Coding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15184" y="1307592"/>
            <a:ext cx="1938528" cy="0"/>
          </a:xfrm>
          <a:prstGeom prst="line">
            <a:avLst/>
          </a:prstGeom>
          <a:ln w="13970">
            <a:solidFill>
              <a:srgbClr val="28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09744" y="905256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285F91"/>
                </a:solidFill>
                <a:latin typeface="Arial"/>
              </a:rPr>
              <a:t>DeepResearch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09744" y="1307592"/>
            <a:ext cx="1938528" cy="0"/>
          </a:xfrm>
          <a:prstGeom prst="line">
            <a:avLst/>
          </a:prstGeom>
          <a:ln w="13970">
            <a:solidFill>
              <a:srgbClr val="28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04304" y="905256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285F91"/>
                </a:solidFill>
                <a:latin typeface="Arial"/>
              </a:rPr>
              <a:t>AutoResearch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04304" y="1307592"/>
            <a:ext cx="1938528" cy="0"/>
          </a:xfrm>
          <a:prstGeom prst="line">
            <a:avLst/>
          </a:prstGeom>
          <a:ln w="13970">
            <a:solidFill>
              <a:srgbClr val="28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0352" y="155448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Earlier choice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65960"/>
            <a:ext cx="393192" cy="512064"/>
          </a:xfrm>
          <a:prstGeom prst="rect">
            <a:avLst/>
          </a:prstGeom>
          <a:solidFill>
            <a:srgbClr val="23272B"/>
          </a:solidFill>
          <a:ln w="13970">
            <a:solidFill>
              <a:srgbClr val="232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2103120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Black case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62456" y="2642616"/>
            <a:ext cx="0" cy="374904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319125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Later purchase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529584"/>
            <a:ext cx="18105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Match the earlier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color preference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0904" y="1545336"/>
            <a:ext cx="1847088" cy="1719072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0904" y="1545336"/>
            <a:ext cx="1847088" cy="329184"/>
          </a:xfrm>
          <a:prstGeom prst="rect">
            <a:avLst/>
          </a:prstGeom>
          <a:solidFill>
            <a:srgbClr val="EAF1F8"/>
          </a:solidFill>
          <a:ln w="762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9776" y="1604772"/>
            <a:ext cx="160934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85F91"/>
                </a:solidFill>
                <a:latin typeface="Arial"/>
              </a:rPr>
              <a:t>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2066543"/>
            <a:ext cx="1536192" cy="1088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Menlo"/>
              </a:rPr>
              <a:t>items()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Menlo"/>
              </a:rPr>
              <a:t> → wrong order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Menlo"/>
              </a:rPr>
              <a:t>patch +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8336" y="3575304"/>
            <a:ext cx="17922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Carry fixes and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test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92624" y="1645920"/>
            <a:ext cx="1572768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1682496"/>
            <a:ext cx="14630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85F91"/>
                </a:solidFill>
                <a:latin typeface="Arial"/>
              </a:rPr>
              <a:t>Search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79008" y="2075688"/>
            <a:ext cx="0" cy="146304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992624" y="2276856"/>
            <a:ext cx="1572768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7488" y="2313432"/>
            <a:ext cx="14630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85F91"/>
                </a:solidFill>
                <a:latin typeface="Arial"/>
              </a:rPr>
              <a:t>Visit sources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79008" y="2706624"/>
            <a:ext cx="0" cy="146304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992624" y="2907792"/>
            <a:ext cx="1572768" cy="411480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2944368"/>
            <a:ext cx="14630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285F91"/>
                </a:solidFill>
                <a:latin typeface="Arial"/>
              </a:rPr>
              <a:t>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575304"/>
            <a:ext cx="17922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Retain facts and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source 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024" y="1545336"/>
            <a:ext cx="1856231" cy="1719072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50024" y="1545336"/>
            <a:ext cx="1856231" cy="329184"/>
          </a:xfrm>
          <a:prstGeom prst="rect">
            <a:avLst/>
          </a:prstGeom>
          <a:solidFill>
            <a:srgbClr val="EAF1F8"/>
          </a:solidFill>
          <a:ln w="762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68896" y="1604772"/>
            <a:ext cx="1618487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85F91"/>
                </a:solidFill>
                <a:latin typeface="Arial"/>
              </a:rPr>
              <a:t>ML workspace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2066543"/>
            <a:ext cx="1545335" cy="1088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enlo"/>
              </a:rPr>
              <a:t>train.csv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enlo"/>
              </a:rPr>
              <a:t>model.py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Menlo"/>
              </a:rPr>
              <a:t>submission.csv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575304"/>
            <a:ext cx="189280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Reuse experiments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and intermediate 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553712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85F91"/>
                </a:solidFill>
                <a:latin typeface="Arial"/>
              </a:rPr>
              <a:t>Native tasks + shell access + episode-persistent workspace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Section 4 · task vignettes redrawn from the public examples in Appendix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50" b="0">
                <a:solidFill>
                  <a:srgbClr val="111111"/>
                </a:solidFill>
                <a:latin typeface="Arial"/>
              </a:rPr>
              <a:t>One policy learns across all four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426464"/>
            <a:ext cx="2249424" cy="914400"/>
          </a:xfrm>
          <a:prstGeom prst="rect">
            <a:avLst/>
          </a:prstGeom>
          <a:solidFill>
            <a:srgbClr val="EAF1F8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2139696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285F91"/>
                </a:solidFill>
                <a:latin typeface="Arial"/>
              </a:rPr>
              <a:t>CAMG-RL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3512" y="1271016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285F91"/>
                </a:solidFill>
                <a:latin typeface="Arial"/>
              </a:rPr>
              <a:t>native task + file actions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1746504"/>
            <a:ext cx="2304288" cy="0"/>
          </a:xfrm>
          <a:prstGeom prst="line">
            <a:avLst/>
          </a:prstGeom>
          <a:ln w="2159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926080" y="2066543"/>
            <a:ext cx="2304288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53512" y="2221992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observation + task reward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4104" y="1298448"/>
            <a:ext cx="1408176" cy="539496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8968" y="1335024"/>
            <a:ext cx="129844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F91"/>
                </a:solidFill>
                <a:latin typeface="Arial"/>
              </a:rPr>
              <a:t>Shop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77456" y="1298448"/>
            <a:ext cx="1581912" cy="539496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1335024"/>
            <a:ext cx="147218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F91"/>
                </a:solidFill>
                <a:latin typeface="Arial"/>
              </a:rPr>
              <a:t>Coding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4104" y="1956816"/>
            <a:ext cx="1408176" cy="539496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8968" y="1993392"/>
            <a:ext cx="129844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85F91"/>
                </a:solidFill>
                <a:latin typeface="Arial"/>
              </a:rPr>
              <a:t>DeepResearch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77456" y="1956816"/>
            <a:ext cx="1581912" cy="539496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993392"/>
            <a:ext cx="147218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85F91"/>
                </a:solidFill>
                <a:latin typeface="Arial"/>
              </a:rPr>
              <a:t>AutoResearch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832104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Parallel environment episodes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" y="2953512"/>
            <a:ext cx="205740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990088"/>
            <a:ext cx="1947672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85F91"/>
                </a:solidFill>
                <a:latin typeface="Arial"/>
              </a:rPr>
              <a:t>Persistent files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63624" y="2395728"/>
            <a:ext cx="0" cy="466344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938528" y="2395728"/>
            <a:ext cx="0" cy="466344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4088" y="3675887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write / read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02352" y="3392424"/>
            <a:ext cx="1847088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7216" y="342900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85F91"/>
                </a:solidFill>
                <a:latin typeface="Arial"/>
              </a:rPr>
              <a:t>Episode queue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0416" y="2578608"/>
            <a:ext cx="0" cy="1133855"/>
          </a:xfrm>
          <a:prstGeom prst="line">
            <a:avLst/>
          </a:prstGeom>
          <a:ln w="13970">
            <a:solidFill>
              <a:srgbClr val="28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068312" y="3712463"/>
            <a:ext cx="832104" cy="0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64424" y="2971800"/>
            <a:ext cx="98755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completed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trajectories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52344" y="3392424"/>
            <a:ext cx="1828800" cy="640080"/>
          </a:xfrm>
          <a:prstGeom prst="rect">
            <a:avLst/>
          </a:prstGeom>
          <a:solidFill>
            <a:srgbClr val="FFFFFF"/>
          </a:solidFill>
          <a:ln w="13970">
            <a:solidFill>
              <a:srgbClr val="C8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3429000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C8192E"/>
                </a:solidFill>
                <a:latin typeface="Arial"/>
              </a:rPr>
              <a:t>Actor + critic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4700016" y="3712463"/>
            <a:ext cx="301752" cy="0"/>
          </a:xfrm>
          <a:prstGeom prst="line">
            <a:avLst/>
          </a:prstGeom>
          <a:ln w="13970">
            <a:solidFill>
              <a:srgbClr val="C819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657600" y="2807208"/>
            <a:ext cx="0" cy="493776"/>
          </a:xfrm>
          <a:prstGeom prst="line">
            <a:avLst/>
          </a:prstGeom>
          <a:ln w="13970">
            <a:solidFill>
              <a:srgbClr val="C81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551176" y="2807208"/>
            <a:ext cx="1106424" cy="0"/>
          </a:xfrm>
          <a:prstGeom prst="line">
            <a:avLst/>
          </a:prstGeom>
          <a:ln w="13970">
            <a:solidFill>
              <a:srgbClr val="C81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551176" y="2404872"/>
            <a:ext cx="0" cy="402336"/>
          </a:xfrm>
          <a:prstGeom prst="line">
            <a:avLst/>
          </a:prstGeom>
          <a:ln w="13970">
            <a:solidFill>
              <a:srgbClr val="C819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090672" y="2578608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C8192E"/>
                </a:solidFill>
                <a:latin typeface="Arial"/>
              </a:rPr>
              <a:t>publish weights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C8192E"/>
                </a:solidFill>
                <a:latin typeface="Arial"/>
              </a:rPr>
              <a:t>Fully asynchronous PPO</a:t>
            </a:r>
            <a:r>
              <a:rPr sz="1700" b="0">
                <a:solidFill>
                  <a:srgbClr val="111111"/>
                </a:solidFill>
                <a:latin typeface="Arial"/>
              </a:rPr>
              <a:t> overlaps rollouts and learning.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Figure 2 · shared policy and learner; task semantics remain in each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50" b="0">
                <a:solidFill>
                  <a:srgbClr val="111111"/>
                </a:solidFill>
                <a:latin typeface="Arial"/>
              </a:rPr>
              <a:t>Context changes; the working files remain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859536"/>
            <a:ext cx="26517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Current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0984" y="859536"/>
            <a:ext cx="25146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C8192E"/>
                </a:solidFill>
                <a:latin typeface="Arial"/>
              </a:rPr>
              <a:t>Mechanical 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62472" y="859536"/>
            <a:ext cx="24688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Fresh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" y="1472184"/>
            <a:ext cx="2670048" cy="1517904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7784" y="1472184"/>
            <a:ext cx="2670048" cy="329184"/>
          </a:xfrm>
          <a:prstGeom prst="rect">
            <a:avLst/>
          </a:prstGeom>
          <a:solidFill>
            <a:srgbClr val="EAF1F8"/>
          </a:solidFill>
          <a:ln w="762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531620"/>
            <a:ext cx="24323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85F91"/>
                </a:solidFill>
                <a:latin typeface="Arial"/>
              </a:rPr>
              <a:t>Policy-authored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93392"/>
            <a:ext cx="2359152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Menlo"/>
              </a:rPr>
              <a:t>CONTINUATION.md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Menlo"/>
              </a:rPr>
              <a:t>plan + evidence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Menlo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773936"/>
            <a:ext cx="210312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Clear active history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Keep task + file paths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25896" y="1472184"/>
            <a:ext cx="2670048" cy="1517904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25896" y="1472184"/>
            <a:ext cx="2670048" cy="329184"/>
          </a:xfrm>
          <a:prstGeom prst="rect">
            <a:avLst/>
          </a:prstGeom>
          <a:solidFill>
            <a:srgbClr val="EAF1F8"/>
          </a:solidFill>
          <a:ln w="762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531620"/>
            <a:ext cx="24323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85F91"/>
                </a:solidFill>
                <a:latin typeface="Arial"/>
              </a:rPr>
              <a:t>Ordinary read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1993392"/>
            <a:ext cx="2359152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Menlo"/>
              </a:rPr>
              <a:t>cd .agent_memory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11111"/>
                </a:solidFill>
                <a:latin typeface="Menlo"/>
              </a:rPr>
              <a:t>cat CONTINUATION.md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55264" y="2203704"/>
            <a:ext cx="228600" cy="0"/>
          </a:xfrm>
          <a:prstGeom prst="line">
            <a:avLst/>
          </a:prstGeom>
          <a:ln w="13970">
            <a:solidFill>
              <a:srgbClr val="C819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60136" y="2203704"/>
            <a:ext cx="283464" cy="0"/>
          </a:xfrm>
          <a:prstGeom prst="line">
            <a:avLst/>
          </a:prstGeom>
          <a:ln w="13970">
            <a:solidFill>
              <a:srgbClr val="C819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97864" y="3410712"/>
            <a:ext cx="6766560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9304" y="354787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85F91"/>
                </a:solidFill>
                <a:latin typeface="Arial"/>
              </a:rPr>
              <a:t>Episode workspace: continuation · notes · evidence · task files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3026664"/>
            <a:ext cx="0" cy="283464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360920" y="3026664"/>
            <a:ext cx="0" cy="301752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85F91"/>
                </a:solidFill>
                <a:latin typeface="Arial"/>
              </a:rPr>
              <a:t>The policy writes and reads.</a:t>
            </a:r>
            <a:r>
              <a:rPr sz="1700" b="0">
                <a:solidFill>
                  <a:srgbClr val="111111"/>
                </a:solidFill>
                <a:latin typeface="Arial"/>
              </a:rPr>
              <a:t> The reset contributes no policy 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Section 5.1 · reset supplies paths; it does not inject saved file contents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50" b="0">
                <a:solidFill>
                  <a:srgbClr val="111111"/>
                </a:solidFill>
                <a:latin typeface="Arial"/>
              </a:rPr>
              <a:t>Task reward trains the entire memory-use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One sampled action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00784"/>
            <a:ext cx="1261872" cy="740664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737360"/>
            <a:ext cx="1152143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F91"/>
                </a:solidFill>
                <a:latin typeface="Arial"/>
              </a:rPr>
              <a:t>Task action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10512" y="2066543"/>
            <a:ext cx="320040" cy="0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221992" y="1700784"/>
            <a:ext cx="1261872" cy="740664"/>
          </a:xfrm>
          <a:prstGeom prst="rect">
            <a:avLst/>
          </a:prstGeom>
          <a:solidFill>
            <a:srgbClr val="EAF1F8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76856" y="1737360"/>
            <a:ext cx="1152143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F91"/>
                </a:solidFill>
                <a:latin typeface="Arial"/>
              </a:rPr>
              <a:t>Write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29584" y="2066543"/>
            <a:ext cx="320040" cy="0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941063" y="1700784"/>
            <a:ext cx="1261872" cy="740664"/>
          </a:xfrm>
          <a:prstGeom prst="rect">
            <a:avLst/>
          </a:prstGeom>
          <a:solidFill>
            <a:srgbClr val="EAF1F8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95927" y="1737360"/>
            <a:ext cx="1152143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F91"/>
                </a:solidFill>
                <a:latin typeface="Arial"/>
              </a:rPr>
              <a:t>Retrieve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48655" y="2066543"/>
            <a:ext cx="320041" cy="0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660136" y="1700784"/>
            <a:ext cx="1261872" cy="740664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1737360"/>
            <a:ext cx="1152143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F91"/>
                </a:solidFill>
                <a:latin typeface="Arial"/>
              </a:rPr>
              <a:t>Use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67728" y="2066543"/>
            <a:ext cx="320040" cy="0"/>
          </a:xfrm>
          <a:prstGeom prst="line">
            <a:avLst/>
          </a:prstGeom>
          <a:ln w="13970">
            <a:solidFill>
              <a:srgbClr val="285F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79208" y="1700784"/>
            <a:ext cx="1261872" cy="740664"/>
          </a:xfrm>
          <a:prstGeom prst="rect">
            <a:avLst/>
          </a:prstGeom>
          <a:solidFill>
            <a:srgbClr val="FFFFFF"/>
          </a:solidFill>
          <a:ln w="13970">
            <a:solidFill>
              <a:srgbClr val="C8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34072" y="1737360"/>
            <a:ext cx="1152143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C8192E"/>
                </a:solidFill>
                <a:latin typeface="Arial"/>
              </a:rP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2660904"/>
            <a:ext cx="2898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285F91"/>
                </a:solidFill>
                <a:latin typeface="Arial"/>
              </a:rPr>
              <a:t>files as policy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2706624"/>
            <a:ext cx="1298448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C8192E"/>
                </a:solidFill>
                <a:latin typeface="Arial"/>
              </a:rPr>
              <a:t>native task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C8192E"/>
                </a:solidFill>
                <a:latin typeface="Arial"/>
              </a:rPr>
              <a:t>reward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28431" y="3337560"/>
            <a:ext cx="0" cy="210312"/>
          </a:xfrm>
          <a:prstGeom prst="line">
            <a:avLst/>
          </a:prstGeom>
          <a:ln w="13970">
            <a:solidFill>
              <a:srgbClr val="C81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43000" y="3547872"/>
            <a:ext cx="6885431" cy="0"/>
          </a:xfrm>
          <a:prstGeom prst="line">
            <a:avLst/>
          </a:prstGeom>
          <a:ln w="20320">
            <a:solidFill>
              <a:srgbClr val="C819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33856" y="2587752"/>
            <a:ext cx="0" cy="923544"/>
          </a:xfrm>
          <a:prstGeom prst="line">
            <a:avLst/>
          </a:prstGeom>
          <a:ln w="13970">
            <a:solidFill>
              <a:srgbClr val="C819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852928" y="2587752"/>
            <a:ext cx="0" cy="923544"/>
          </a:xfrm>
          <a:prstGeom prst="line">
            <a:avLst/>
          </a:prstGeom>
          <a:ln w="13970">
            <a:solidFill>
              <a:srgbClr val="C819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572000" y="2587752"/>
            <a:ext cx="0" cy="923544"/>
          </a:xfrm>
          <a:prstGeom prst="line">
            <a:avLst/>
          </a:prstGeom>
          <a:ln w="13970">
            <a:solidFill>
              <a:srgbClr val="C819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291072" y="2587752"/>
            <a:ext cx="0" cy="923544"/>
          </a:xfrm>
          <a:prstGeom prst="line">
            <a:avLst/>
          </a:prstGeom>
          <a:ln w="13970">
            <a:solidFill>
              <a:srgbClr val="C819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87168" y="3758184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C8192E"/>
                </a:solidFill>
                <a:latin typeface="Arial"/>
              </a:rPr>
              <a:t>GAE returns → token-level PPO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Task and memory responses share downstream credit.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Section 5; Appendix B · no separate memory reward or reset optimizer row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50" b="0">
                <a:solidFill>
                  <a:srgbClr val="111111"/>
                </a:solidFill>
                <a:latin typeface="Arial"/>
              </a:rPr>
              <a:t>CAMG-RL reaches 54.4% average task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pic>
        <p:nvPicPr>
          <p:cNvPr id="4" name="Picture 3" descr="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71767"/>
            <a:ext cx="6053327" cy="3622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65392" y="1362456"/>
            <a:ext cx="221284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900" b="1">
                <a:solidFill>
                  <a:srgbClr val="285F91"/>
                </a:solidFill>
                <a:latin typeface="Arial"/>
              </a:rPr>
              <a:t>54.4%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5392" y="1865376"/>
            <a:ext cx="2212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four-environment average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0" y="2523744"/>
            <a:ext cx="1609344" cy="0"/>
          </a:xfrm>
          <a:prstGeom prst="line">
            <a:avLst/>
          </a:prstGeom>
          <a:ln w="13970">
            <a:solidFill>
              <a:srgbClr val="CC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65392" y="2761488"/>
            <a:ext cx="221284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900" b="1">
                <a:solidFill>
                  <a:srgbClr val="C8192E"/>
                </a:solidFill>
                <a:latin typeface="Arial"/>
              </a:rPr>
              <a:t>+6.4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3264408"/>
            <a:ext cx="2212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over CompactionRL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C8192E"/>
                </a:solidFill>
                <a:latin typeface="Arial"/>
              </a:rPr>
              <a:t>Learning to use files</a:t>
            </a:r>
            <a:r>
              <a:rPr sz="1700" b="0">
                <a:solidFill>
                  <a:srgbClr val="111111"/>
                </a:solidFill>
                <a:latin typeface="Arial"/>
              </a:rPr>
              <a:t> outperforms the strongest memory baseline.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Table 2 · 128 test tasks per environment · paired difference 95% CI: [3.3, 9.5] 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50" b="0">
                <a:solidFill>
                  <a:srgbClr val="111111"/>
                </a:solidFill>
                <a:latin typeface="Arial"/>
              </a:rPr>
              <a:t>The largest gains are in Coding and AutoResearch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pic>
        <p:nvPicPr>
          <p:cNvPr id="4" name="Picture 3" descr="dom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732455"/>
            <a:ext cx="6062472" cy="3628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65392" y="1344168"/>
            <a:ext cx="221284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900" b="1">
                <a:solidFill>
                  <a:srgbClr val="285F91"/>
                </a:solidFill>
                <a:latin typeface="Arial"/>
              </a:rPr>
              <a:t>+7.1 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5392" y="1847088"/>
            <a:ext cx="2212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Coding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0" y="2523744"/>
            <a:ext cx="1609344" cy="0"/>
          </a:xfrm>
          <a:prstGeom prst="line">
            <a:avLst/>
          </a:prstGeom>
          <a:ln w="13970">
            <a:solidFill>
              <a:srgbClr val="CC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65392" y="2761488"/>
            <a:ext cx="221284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900" b="1">
                <a:solidFill>
                  <a:srgbClr val="C8192E"/>
                </a:solidFill>
                <a:latin typeface="Arial"/>
              </a:rPr>
              <a:t>+14.1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3264408"/>
            <a:ext cx="2212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AutoResearch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50" b="0">
                <a:solidFill>
                  <a:srgbClr val="111111"/>
                </a:solidFill>
                <a:latin typeface="Arial"/>
              </a:rPr>
              <a:t>Shop is near saturation; </a:t>
            </a:r>
            <a:r>
              <a:rPr sz="1650" b="1">
                <a:solidFill>
                  <a:srgbClr val="C8192E"/>
                </a:solidFill>
                <a:latin typeface="Arial"/>
              </a:rPr>
              <a:t>Coding and AutoResearch</a:t>
            </a:r>
            <a:r>
              <a:rPr sz="1650" b="0">
                <a:solidFill>
                  <a:srgbClr val="111111"/>
                </a:solidFill>
                <a:latin typeface="Arial"/>
              </a:rPr>
              <a:t> open the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Table 2; Appendix C.1 · paired improvements significant in Coding and AutoResearch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50" b="0">
                <a:solidFill>
                  <a:srgbClr val="111111"/>
                </a:solidFill>
                <a:latin typeface="Arial"/>
              </a:rPr>
              <a:t>The frozen base already favors filesystem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pic>
        <p:nvPicPr>
          <p:cNvPr id="4" name="Picture 3" descr="p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778175"/>
            <a:ext cx="6062472" cy="3628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65392" y="1316736"/>
            <a:ext cx="221284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900" b="1">
                <a:solidFill>
                  <a:srgbClr val="285F91"/>
                </a:solidFill>
                <a:latin typeface="Arial"/>
              </a:rPr>
              <a:t>≤ 0.013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5392" y="1819656"/>
            <a:ext cx="2212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nats/token change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when the shell tool is renamed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0" y="2706624"/>
            <a:ext cx="1609344" cy="0"/>
          </a:xfrm>
          <a:prstGeom prst="line">
            <a:avLst/>
          </a:prstGeom>
          <a:ln w="13970">
            <a:solidFill>
              <a:srgbClr val="CC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65392" y="3054096"/>
            <a:ext cx="22128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The prior extends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beyond the tool 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C8192E"/>
                </a:solidFill>
                <a:latin typeface="Arial"/>
              </a:rPr>
              <a:t>Familiar action rendering</a:t>
            </a:r>
            <a:r>
              <a:rPr sz="1650" b="0">
                <a:solidFill>
                  <a:srgbClr val="111111"/>
                </a:solidFill>
                <a:latin typeface="Arial"/>
              </a:rPr>
              <a:t> gives reinforcement learning a usable starting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Figure 3a; Appendix C.1 · frozen Qwen3.5-4B · lower NLL means more likely 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20" b="0">
                <a:solidFill>
                  <a:srgbClr val="111111"/>
                </a:solidFill>
                <a:latin typeface="Arial"/>
              </a:rPr>
              <a:t>RL turns familiar actions into complete memory chains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pic>
        <p:nvPicPr>
          <p:cNvPr id="4" name="Picture 3" descr="ch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732455"/>
            <a:ext cx="6062472" cy="3628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19088" y="1316736"/>
            <a:ext cx="2505456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900" b="1">
                <a:solidFill>
                  <a:srgbClr val="285F91"/>
                </a:solidFill>
                <a:latin typeface="Arial"/>
              </a:rPr>
              <a:t>8.0 → 20.9%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1819656"/>
            <a:ext cx="250545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episodes with a complete chain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0" y="2633472"/>
            <a:ext cx="1609344" cy="0"/>
          </a:xfrm>
          <a:prstGeom prst="line">
            <a:avLst/>
          </a:prstGeom>
          <a:ln w="13970">
            <a:solidFill>
              <a:srgbClr val="CC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19088" y="2889504"/>
            <a:ext cx="2505456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Store → retrieve →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657600"/>
            <a:ext cx="2267712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Beyond the mandatory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continuation 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C8192E"/>
                </a:solidFill>
                <a:latin typeface="Arial"/>
              </a:rPr>
              <a:t>Voluntary memory use grows</a:t>
            </a:r>
            <a:r>
              <a:rPr sz="1700" b="0">
                <a:solidFill>
                  <a:srgbClr val="111111"/>
                </a:solidFill>
                <a:latin typeface="Arial"/>
              </a:rPr>
              <a:t> while AgeMem completes no chain.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Figure 3b; Appendix C.1 · first and last quarters of the common 200-update training protocol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20" b="0">
                <a:solidFill>
                  <a:srgbClr val="111111"/>
                </a:solidFill>
                <a:latin typeface="Arial"/>
              </a:rPr>
              <a:t>Trained competence transfers to external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868680"/>
            <a:ext cx="31089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Success rate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1104" y="868680"/>
            <a:ext cx="2075688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SWE-bench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7104" y="868680"/>
            <a:ext cx="194767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MLE-bench Lite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353312"/>
            <a:ext cx="8046720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150876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111111"/>
                </a:solidFill>
                <a:latin typeface="Arial"/>
              </a:rPr>
              <a:t>Qwen3.5-4B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087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7.6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15087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0.0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65376"/>
            <a:ext cx="8019288" cy="393192"/>
          </a:xfrm>
          <a:prstGeom prst="rect">
            <a:avLst/>
          </a:prstGeom>
          <a:solidFill>
            <a:srgbClr val="EAF1F8"/>
          </a:solidFill>
          <a:ln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92024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85F91"/>
                </a:solidFill>
                <a:latin typeface="Arial"/>
              </a:rPr>
              <a:t>CAMG-RL-4B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285F91"/>
                </a:solidFill>
                <a:latin typeface="Arial"/>
              </a:rPr>
              <a:t>15.8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19202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285F91"/>
                </a:solidFill>
                <a:latin typeface="Arial"/>
              </a:rPr>
              <a:t>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33172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111111"/>
                </a:solidFill>
                <a:latin typeface="Arial"/>
              </a:rPr>
              <a:t>Qwen3.5-35B-A3B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317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15.6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3317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4.5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072" y="2660903"/>
            <a:ext cx="7991856" cy="0"/>
          </a:xfrm>
          <a:prstGeom prst="line">
            <a:avLst/>
          </a:prstGeom>
          <a:ln w="13970">
            <a:solidFill>
              <a:srgbClr val="CC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2" y="2907792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111111"/>
                </a:solidFill>
                <a:latin typeface="Arial"/>
              </a:rPr>
              <a:t>Qwen3.5-9B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9077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14.8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29077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4.5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264408"/>
            <a:ext cx="8019288" cy="393192"/>
          </a:xfrm>
          <a:prstGeom prst="rect">
            <a:avLst/>
          </a:prstGeom>
          <a:solidFill>
            <a:srgbClr val="EAF1F8"/>
          </a:solidFill>
          <a:ln>
            <a:solidFill>
              <a:srgbClr val="EA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319272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285F91"/>
                </a:solidFill>
                <a:latin typeface="Arial"/>
              </a:rPr>
              <a:t>CAMG-RL-9B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31927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285F91"/>
                </a:solidFill>
                <a:latin typeface="Arial"/>
              </a:rPr>
              <a:t>27.6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331927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285F91"/>
                </a:solidFill>
                <a:latin typeface="Arial"/>
              </a:rPr>
              <a:t>9.1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730752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111111"/>
                </a:solidFill>
                <a:latin typeface="Arial"/>
              </a:rPr>
              <a:t>Qwen3.5-122B-A10B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73075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22.0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373075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111111"/>
                </a:solidFill>
                <a:latin typeface="Arial"/>
              </a:rPr>
              <a:t>9.1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187952"/>
            <a:ext cx="8046720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C8192E"/>
                </a:solidFill>
                <a:latin typeface="Arial"/>
              </a:rPr>
              <a:t>4B and 9B policies</a:t>
            </a:r>
            <a:r>
              <a:rPr sz="1650" b="0">
                <a:solidFill>
                  <a:srgbClr val="111111"/>
                </a:solidFill>
                <a:latin typeface="Arial"/>
              </a:rPr>
              <a:t> are competitive with much larger frozen models.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Selected rows from Table 3 · matched tasks, decoding, budgets and graders; all failures included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20" b="0">
                <a:solidFill>
                  <a:srgbClr val="111111"/>
                </a:solidFill>
                <a:latin typeface="Arial"/>
              </a:rPr>
              <a:t>Memory-action credit and general files both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pic>
        <p:nvPicPr>
          <p:cNvPr id="4" name="Picture 3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759887"/>
            <a:ext cx="6062472" cy="3628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65392" y="1335024"/>
            <a:ext cx="221284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900" b="1">
                <a:solidFill>
                  <a:srgbClr val="C8192E"/>
                </a:solidFill>
                <a:latin typeface="Arial"/>
              </a:rPr>
              <a:t>−33.3 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5392" y="1837943"/>
            <a:ext cx="2212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without memory-action gradients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0" y="2551176"/>
            <a:ext cx="1609344" cy="0"/>
          </a:xfrm>
          <a:prstGeom prst="line">
            <a:avLst/>
          </a:prstGeom>
          <a:ln w="13970">
            <a:solidFill>
              <a:srgbClr val="CC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65392" y="2770632"/>
            <a:ext cx="221284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900" b="1">
                <a:solidFill>
                  <a:srgbClr val="285F91"/>
                </a:solidFill>
                <a:latin typeface="Arial"/>
              </a:rPr>
              <a:t>−12.6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3273552"/>
            <a:ext cx="2212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retrained with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continuation-only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C8192E"/>
                </a:solidFill>
                <a:latin typeface="Arial"/>
              </a:rPr>
              <a:t>Learning the file actions</a:t>
            </a:r>
            <a:r>
              <a:rPr sz="1650" b="0">
                <a:solidFill>
                  <a:srgbClr val="111111"/>
                </a:solidFill>
                <a:latin typeface="Arial"/>
              </a:rPr>
              <a:t> and using general memory files both help.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Figure 4 · last bar restricts the full policy only at evaluation; it is not a retrained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50" b="0">
                <a:solidFill>
                  <a:srgbClr val="111111"/>
                </a:solidFill>
                <a:latin typeface="Arial"/>
              </a:rPr>
              <a:t>Changing saved content reduces subsequent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pic>
        <p:nvPicPr>
          <p:cNvPr id="4" name="Picture 3" descr="interv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741599"/>
            <a:ext cx="6062472" cy="3628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65392" y="1280160"/>
            <a:ext cx="221284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900" b="1">
                <a:solidFill>
                  <a:srgbClr val="C8192E"/>
                </a:solidFill>
                <a:latin typeface="Arial"/>
              </a:rPr>
              <a:t>−14.1 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5392" y="1783080"/>
            <a:ext cx="2212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blank memory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equal-environment average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0" y="2642616"/>
            <a:ext cx="1609344" cy="0"/>
          </a:xfrm>
          <a:prstGeom prst="line">
            <a:avLst/>
          </a:prstGeom>
          <a:ln w="13970">
            <a:solidFill>
              <a:srgbClr val="CC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65392" y="2816352"/>
            <a:ext cx="221284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900" b="1">
                <a:solidFill>
                  <a:srgbClr val="285F91"/>
                </a:solidFill>
                <a:latin typeface="Arial"/>
              </a:rPr>
              <a:t>−11.5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3319272"/>
            <a:ext cx="22128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task-mismatched memory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equal-environment average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C8192E"/>
                </a:solidFill>
                <a:latin typeface="Arial"/>
              </a:rPr>
              <a:t>Saved content affects later decisions</a:t>
            </a:r>
            <a:r>
              <a:rPr sz="1650" b="0">
                <a:solidFill>
                  <a:srgbClr val="111111"/>
                </a:solidFill>
                <a:latin typeface="Arial"/>
              </a:rPr>
              <a:t> at the same post-reset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Appendix D.3 · eligible n = 128 / 29 / 60 / 23 · shuffled donors matched within environment and by length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50" b="0">
                <a:solidFill>
                  <a:srgbClr val="111111"/>
                </a:solidFill>
                <a:latin typeface="Arial"/>
              </a:rPr>
              <a:t>A coding episode shows the write–read–use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813816"/>
            <a:ext cx="815644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Scrapy: repair broken response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1426464"/>
            <a:ext cx="3877056" cy="2295144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4632" y="1426464"/>
            <a:ext cx="3877056" cy="329184"/>
          </a:xfrm>
          <a:prstGeom prst="rect">
            <a:avLst/>
          </a:prstGeom>
          <a:solidFill>
            <a:srgbClr val="EAF1F8"/>
          </a:solidFill>
          <a:ln w="762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485900"/>
            <a:ext cx="36393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85F91"/>
                </a:solidFill>
                <a:latin typeface="Arial"/>
              </a:rPr>
              <a:t>Before reset · round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3566160" cy="1664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11111"/>
                </a:solidFill>
                <a:latin typeface="Menlo"/>
              </a:rPr>
              <a:t>objective: fix response logging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11111"/>
                </a:solidFill>
                <a:latin typeface="Menlo"/>
              </a:rPr>
              <a:t>evidence: added _mqpush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11111"/>
                </a:solidFill>
                <a:latin typeface="Menlo"/>
              </a:rPr>
              <a:t>  in scrapy/core/scheduler.py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11111"/>
                </a:solidFill>
                <a:latin typeface="Menlo"/>
              </a:rPr>
              <a:t>tested: no _mqpush error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11111"/>
                </a:solidFill>
                <a:latin typeface="Menlo"/>
              </a:rPr>
              <a:t>next: run tests, confirm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11111"/>
                </a:solidFill>
                <a:latin typeface="Menlo"/>
              </a:rPr>
              <a:t>  logging, then 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3858768"/>
            <a:ext cx="380390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285F91"/>
                </a:solidFill>
                <a:latin typeface="Menlo"/>
              </a:rPr>
              <a:t>.agent_memory/CONTINUATION.md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08576" y="1408176"/>
            <a:ext cx="0" cy="2724911"/>
          </a:xfrm>
          <a:prstGeom prst="line">
            <a:avLst/>
          </a:prstGeom>
          <a:ln w="13970">
            <a:solidFill>
              <a:srgbClr val="C819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864608" y="1426464"/>
            <a:ext cx="3794760" cy="1901952"/>
          </a:xfrm>
          <a:prstGeom prst="rect">
            <a:avLst/>
          </a:prstGeom>
          <a:solidFill>
            <a:srgbClr val="FFFFFF"/>
          </a:solidFill>
          <a:ln w="1397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64608" y="1426464"/>
            <a:ext cx="3794760" cy="329184"/>
          </a:xfrm>
          <a:prstGeom prst="rect">
            <a:avLst/>
          </a:prstGeom>
          <a:solidFill>
            <a:srgbClr val="EAF1F8"/>
          </a:solidFill>
          <a:ln w="7620">
            <a:solidFill>
              <a:srgbClr val="28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485900"/>
            <a:ext cx="35570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85F91"/>
                </a:solidFill>
                <a:latin typeface="Arial"/>
              </a:rPr>
              <a:t>After reset · rounds 19–30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6" y="1947672"/>
            <a:ext cx="3483864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11111"/>
                </a:solidFill>
                <a:latin typeface="Menlo"/>
              </a:rPr>
              <a:t>$ cat \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11111"/>
                </a:solidFill>
                <a:latin typeface="Menlo"/>
              </a:rPr>
              <a:t>    .agent_memory/CONTINUATION.md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11111"/>
                </a:solidFill>
                <a:latin typeface="Menlo"/>
              </a:rPr>
              <a:t>$ python test_spider.py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11111"/>
                </a:solidFill>
                <a:latin typeface="Menlo"/>
              </a:rPr>
              <a:t>$ python -m pytest \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20" b="0">
                <a:solidFill>
                  <a:srgbClr val="111111"/>
                </a:solidFill>
                <a:latin typeface="Menlo"/>
              </a:rPr>
              <a:t>    tests/test_crawl.py -v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3529584"/>
            <a:ext cx="3410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9806A"/>
                </a:solidFill>
                <a:latin typeface="Arial"/>
              </a:rPr>
              <a:t>Hidden tests 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3913632"/>
            <a:ext cx="351129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>
                <a:solidFill>
                  <a:srgbClr val="555555"/>
                </a:solidFill>
                <a:latin typeface="Arial"/>
              </a:rPr>
              <a:t>Return 1.00 · submitted at step 30 / 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489704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C8192E"/>
                </a:solidFill>
                <a:latin typeface="Arial"/>
              </a:rPr>
              <a:t>The saved fix and verification plan</a:t>
            </a:r>
            <a:r>
              <a:rPr sz="1650" b="0">
                <a:solidFill>
                  <a:srgbClr val="111111"/>
                </a:solidFill>
                <a:latin typeface="Arial"/>
              </a:rPr>
              <a:t> guide work in the fresh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4956048"/>
            <a:ext cx="8321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888888"/>
                </a:solidFill>
                <a:latin typeface="Arial"/>
              </a:rPr>
              <a:t>Figure 5; Appendix A.4.3 · training trajectory · excerpts shortened for presentation; wrapped commands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54864"/>
            <a:ext cx="817473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50" b="0">
                <a:solidFill>
                  <a:srgbClr val="111111"/>
                </a:solidFill>
                <a:latin typeface="Arial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5904" y="1737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96696"/>
            <a:ext cx="801928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C8192E"/>
                </a:solidFill>
                <a:latin typeface="Arial"/>
              </a:rPr>
              <a:t>• CAMG </a:t>
            </a:r>
            <a:r>
              <a:rPr sz="1900" b="0">
                <a:solidFill>
                  <a:srgbClr val="111111"/>
                </a:solidFill>
                <a:latin typeface="Arial"/>
              </a:rPr>
              <a:t>makes long-horizon memory testable across four native task worlds.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929384"/>
            <a:ext cx="801928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C8192E"/>
                </a:solidFill>
                <a:latin typeface="Arial"/>
              </a:rPr>
              <a:t>• CAMG-RL </a:t>
            </a:r>
            <a:r>
              <a:rPr sz="1900" b="0">
                <a:solidFill>
                  <a:srgbClr val="111111"/>
                </a:solidFill>
                <a:latin typeface="Arial"/>
              </a:rPr>
              <a:t>learns to write, retrieve and reuse files from downstream task reward.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862072"/>
            <a:ext cx="8019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1">
                <a:solidFill>
                  <a:srgbClr val="C8192E"/>
                </a:solidFill>
                <a:latin typeface="Arial"/>
              </a:rPr>
              <a:t>• Familiar file operations </a:t>
            </a:r>
            <a:r>
              <a:rPr sz="1900" b="0">
                <a:solidFill>
                  <a:srgbClr val="111111"/>
                </a:solidFill>
                <a:latin typeface="Arial"/>
              </a:rPr>
              <a:t>support learned memory chains and stronger task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50791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b="1">
                <a:solidFill>
                  <a:srgbClr val="111111"/>
                </a:solidFill>
                <a:latin typeface="Arial"/>
              </a:rPr>
              <a:t>Project: </a:t>
            </a:r>
            <a:r>
              <a:rPr sz="1070" b="0">
                <a:solidFill>
                  <a:srgbClr val="285F91"/>
                </a:solidFill>
                <a:latin typeface="Arial"/>
                <a:hlinkClick r:id="rId2"/>
              </a:rPr>
              <a:t>liruiluo.github.io/agentmemorygym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4050791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b="1">
                <a:solidFill>
                  <a:srgbClr val="111111"/>
                </a:solidFill>
                <a:latin typeface="Arial"/>
              </a:rPr>
              <a:t>Paper: </a:t>
            </a:r>
            <a:r>
              <a:rPr sz="1070" b="0">
                <a:solidFill>
                  <a:srgbClr val="285F91"/>
                </a:solidFill>
                <a:latin typeface="Arial"/>
                <a:hlinkClick r:id="rId3"/>
              </a:rPr>
              <a:t>arXiv:2609.34422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632" y="4480560"/>
            <a:ext cx="8183880" cy="0"/>
          </a:xfrm>
          <a:prstGeom prst="line">
            <a:avLst/>
          </a:prstGeom>
          <a:ln w="13970">
            <a:solidFill>
              <a:srgbClr val="CC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7" y="4645152"/>
            <a:ext cx="7397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Coding Agent Memory Post-training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4636008"/>
            <a:ext cx="85039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C8192E"/>
                </a:solidFill>
                <a:latin typeface="Arial"/>
              </a:rPr>
              <a:t>JD.com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Agent Memory Post-training</dc:title>
  <dc:subject>Public paper talk · arXiv:2609.34422v1 · CRG/SPHERE academic style</dc:subject>
  <dc:creator>Lirui Luo et al. · JD.com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