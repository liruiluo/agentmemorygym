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609.34422" TargetMode="External"/><Relationship Id="rId3" Type="http://schemas.openxmlformats.org/officeDocument/2006/relationships/hyperlink" Target="https://liruiluo.github.io/agentmemorygym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38912"/>
            <a:ext cx="493776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192E"/>
                </a:solidFill>
                <a:latin typeface="Arial"/>
              </a:rPr>
              <a:t>CAMG / CAMG-RL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438912"/>
            <a:ext cx="8229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JD.com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8046720" cy="10515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11111"/>
                </a:solidFill>
                <a:latin typeface="Arial"/>
              </a:rPr>
              <a:t>Coding Agent Memory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11111"/>
                </a:solidFill>
                <a:latin typeface="Arial"/>
              </a:rPr>
              <a:t>Post-training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12848"/>
            <a:ext cx="7955279" cy="603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555555"/>
                </a:solidFill>
                <a:latin typeface="Arial"/>
              </a:rPr>
              <a:t>Unlocking the Memory Potential of Pre-trained File Operations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555555"/>
                </a:solidFill>
                <a:latin typeface="Arial"/>
              </a:rPr>
              <a:t>for Long-Horizon Tasks via Reinforcement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6976"/>
            <a:ext cx="7955279" cy="548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Lirui Luo · Kelong Mao · Heming Xia · Rongqing Li · Xinwei Yang · Luyu Chen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Kieran Wong · Yudong Guo · Xinrui Wang · Jiayin Zhu · Simiu Gu · Sulong Xu · Cong Fang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877056"/>
            <a:ext cx="118872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JD.com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4348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2B628F"/>
                </a:solidFill>
                <a:latin typeface="Arial"/>
                <a:hlinkClick r:id="rId2"/>
              </a:rPr>
              <a:t>Paper  ·  arXiv:2609.34422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69087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2B628F"/>
                </a:solidFill>
                <a:latin typeface="Arial"/>
                <a:hlinkClick r:id="rId3"/>
              </a:rPr>
              <a:t>Project  ·  liruiluo.github.io/agentmemorygym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Long tasks need state that outlives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02</a:t>
            </a:r>
          </a:p>
        </p:txBody>
      </p:sp>
      <p:pic>
        <p:nvPicPr>
          <p:cNvPr id="6" name="Picture 5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10" y="896112"/>
            <a:ext cx="5696378" cy="3337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224528"/>
            <a:ext cx="76809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2B628F"/>
                </a:solidFill>
                <a:latin typeface="Arial"/>
              </a:rPr>
              <a:t>Useful state survives a context replacement.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MOTIVATION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A bounded active context is not a durable workspace.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Can RL unlock the memory prior in file operations?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78992"/>
            <a:ext cx="3429000" cy="2148840"/>
          </a:xfrm>
          <a:prstGeom prst="roundRect">
            <a:avLst/>
          </a:prstGeom>
          <a:solidFill>
            <a:srgbClr val="DCEAF3"/>
          </a:solidFill>
          <a:ln w="15240">
            <a:solidFill>
              <a:srgbClr val="2B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335024"/>
            <a:ext cx="265176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B628F"/>
                </a:solidFill>
                <a:latin typeface="Arial"/>
              </a:rPr>
              <a:t>PRE-TRAINING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1737360"/>
            <a:ext cx="2852928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Shell commands, files, search,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and revision are familiar actions.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90288" y="1078992"/>
            <a:ext cx="3950208" cy="2148840"/>
          </a:xfrm>
          <a:prstGeom prst="roundRect">
            <a:avLst/>
          </a:prstGeom>
          <a:solidFill>
            <a:srgbClr val="F8E5E8"/>
          </a:solidFill>
          <a:ln w="15240">
            <a:solidFill>
              <a:srgbClr val="C8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335024"/>
            <a:ext cx="201168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192E"/>
                </a:solidFill>
                <a:latin typeface="Arial"/>
              </a:rPr>
              <a:t>OPEN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00784"/>
            <a:ext cx="315468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Can downstream task reward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turn that prior into long-horizon memory?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05072" y="2130552"/>
            <a:ext cx="548640" cy="0"/>
          </a:xfrm>
          <a:prstGeom prst="line">
            <a:avLst/>
          </a:prstGeom>
          <a:ln w="25400">
            <a:solidFill>
              <a:srgbClr val="C81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69663" y="1920240"/>
            <a:ext cx="2286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C8192E"/>
                </a:solidFill>
                <a:latin typeface="Arial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RESEARCH QUESTION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Learn memory behavior through the task objective, without inventing a new memory tool vocabulary.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CAMG spans four native task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04</a:t>
            </a:r>
          </a:p>
        </p:txBody>
      </p:sp>
      <p:pic>
        <p:nvPicPr>
          <p:cNvPr id="6" name="Picture 5" descr="task-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8890" y="859536"/>
            <a:ext cx="4226218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3931920"/>
            <a:ext cx="7498079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Arial"/>
              </a:rPr>
              <a:t>• four environments: Shop, Coding, DeepResearch, and AutoResearch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Arial"/>
              </a:rPr>
              <a:t>• native task interface + shell + episode-persistent workspace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Arial"/>
              </a:rPr>
              <a:t>• one shared policy and downstream reward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CAMG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The Gym holds task semantics fixed while exposing a common file-backed memory substrate.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One policy learns across all four environments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05</a:t>
            </a:r>
          </a:p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235" y="841248"/>
            <a:ext cx="5104672" cy="3401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261104"/>
            <a:ext cx="19202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B628F"/>
                </a:solidFill>
                <a:latin typeface="Arial"/>
              </a:rPr>
              <a:t>native task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4261104"/>
            <a:ext cx="219456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C8192E"/>
                </a:solidFill>
                <a:latin typeface="Arial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7792" y="4261104"/>
            <a:ext cx="19202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B628F"/>
                </a:solidFill>
                <a:latin typeface="Arial"/>
              </a:rPr>
              <a:t>filesystem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4261104"/>
            <a:ext cx="219456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C8192E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4261104"/>
            <a:ext cx="18288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B628F"/>
                </a:solidFill>
                <a:latin typeface="Arial"/>
              </a:rPr>
              <a:t>shared task reward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SYSTEM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Fully asynchronous training absorbs variable episode durations while keeping a single actor and critic.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Files carry reasoning across context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042415"/>
            <a:ext cx="2331720" cy="2523744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B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19856" y="1042415"/>
            <a:ext cx="2331720" cy="2523744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8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042415"/>
            <a:ext cx="2331720" cy="2523744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07592"/>
            <a:ext cx="15544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B628F"/>
                </a:solidFill>
                <a:latin typeface="Arial"/>
              </a:rPr>
              <a:t>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46504"/>
            <a:ext cx="173736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Work on the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95728"/>
            <a:ext cx="1755648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Use native tools and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ordinary shell actions.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6744" y="1307592"/>
            <a:ext cx="15544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192E"/>
                </a:solidFill>
                <a:latin typeface="Arial"/>
              </a:rPr>
              <a:t>WRITE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746504"/>
            <a:ext cx="173736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Save what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2395728"/>
            <a:ext cx="1755648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Record evidence, plans,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and the next step.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307592"/>
            <a:ext cx="15544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98754"/>
                </a:solidFill>
                <a:latin typeface="Arial"/>
              </a:rPr>
              <a:t>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1746504"/>
            <a:ext cx="173736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Read it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395728"/>
            <a:ext cx="1755648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After replacement,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retrieve the state.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1528" y="2167128"/>
            <a:ext cx="2286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8192E"/>
                </a:solidFill>
                <a:latin typeface="Arial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9592" y="2167128"/>
            <a:ext cx="2286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8192E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96896" y="3877056"/>
            <a:ext cx="3968496" cy="475488"/>
          </a:xfrm>
          <a:prstGeom prst="roundRect">
            <a:avLst/>
          </a:prstGeom>
          <a:solidFill>
            <a:srgbClr val="DCEAF3"/>
          </a:solidFill>
          <a:ln w="12700">
            <a:solidFill>
              <a:srgbClr val="2B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96896" y="3877056"/>
            <a:ext cx="3968496" cy="4754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628F"/>
                </a:solidFill>
                <a:latin typeface="Arial"/>
              </a:rPr>
              <a:t>.agent_memory/CONTINUATION.md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MEMORY AS REASONING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No separate hidden memory channel: editable files carry plans, evidence, and intermediate findings.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Task reward trains the whole memory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987552"/>
            <a:ext cx="2743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One task reward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987552"/>
            <a:ext cx="31089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One shared credit path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32688" y="1856231"/>
            <a:ext cx="7260336" cy="0"/>
          </a:xfrm>
          <a:prstGeom prst="line">
            <a:avLst/>
          </a:prstGeom>
          <a:ln w="1651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14400" y="1554480"/>
            <a:ext cx="132588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B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55064"/>
            <a:ext cx="13258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B628F"/>
                </a:solidFill>
                <a:latin typeface="Arial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267712"/>
            <a:ext cx="1554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make state durable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700784"/>
            <a:ext cx="2011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C8192E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54096" y="1554480"/>
            <a:ext cx="132588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54096" y="1655064"/>
            <a:ext cx="13258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C8192E"/>
                </a:solidFill>
                <a:latin typeface="Arial"/>
              </a:rPr>
              <a:t>retrieve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4368" y="2267712"/>
            <a:ext cx="1554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bring state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1700784"/>
            <a:ext cx="2011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C8192E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1554480"/>
            <a:ext cx="132588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1655064"/>
            <a:ext cx="13258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98754"/>
                </a:solidFill>
                <a:latin typeface="Arial"/>
              </a:rPr>
              <a:t>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2352" y="2267712"/>
            <a:ext cx="1554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change the next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7688" y="1700784"/>
            <a:ext cx="2011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C8192E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42631" y="1554480"/>
            <a:ext cx="132588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2631" y="1655064"/>
            <a:ext cx="13258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reward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2903" y="2267712"/>
            <a:ext cx="1554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succeed or fail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" y="3218688"/>
            <a:ext cx="7223760" cy="841248"/>
          </a:xfrm>
          <a:prstGeom prst="roundRect">
            <a:avLst/>
          </a:prstGeom>
          <a:solidFill>
            <a:srgbClr val="F8E5E8"/>
          </a:solidFill>
          <a:ln w="15240">
            <a:solidFill>
              <a:srgbClr val="C8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401568"/>
            <a:ext cx="722376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C8192E"/>
                </a:solidFill>
                <a:latin typeface="Arial"/>
              </a:rPr>
              <a:t>Native task reward provides the learning signal.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CREDIT ASSIGNMENT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Task and memory-file responses share task returns. The mechanical context reset creates no policy action.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CAMG-RL achieves 54.4% average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08</a:t>
            </a:r>
          </a:p>
        </p:txBody>
      </p:sp>
      <p:pic>
        <p:nvPicPr>
          <p:cNvPr id="6" name="Picture 5" descr="main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971905"/>
            <a:ext cx="7973568" cy="30122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151376"/>
            <a:ext cx="75895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C8192E"/>
                </a:solidFill>
                <a:latin typeface="Arial"/>
              </a:rPr>
              <a:t>+6.4 percentage points</a:t>
            </a:r>
            <a:r>
              <a:rPr sz="2000" b="0" i="0">
                <a:solidFill>
                  <a:srgbClr val="111111"/>
                </a:solidFill>
                <a:latin typeface="Arial"/>
              </a:rPr>
              <a:t> over CompactionRL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TABLE 2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128 test tasks per environment; matched decoding, action budgets, runtimes, and graders.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The largest gains are in Coding and AutoResearch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09</a:t>
            </a:r>
          </a:p>
        </p:txBody>
      </p:sp>
      <p:pic>
        <p:nvPicPr>
          <p:cNvPr id="6" name="Picture 5" descr="environment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165" y="941832"/>
            <a:ext cx="7423668" cy="28986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" y="3941063"/>
            <a:ext cx="7452360" cy="585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Arial"/>
              </a:rPr>
              <a:t>• Shop: both methods nearly saturate the task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Arial"/>
              </a:rPr>
              <a:t>• Coding: 26.6% vs. 19.5% for learned compaction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Arial"/>
              </a:rPr>
              <a:t>• AutoResearch: 38.3% vs. 24.2% — the largest absolute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RESULT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A single policy learns one memory behavior while each environment keeps its native task semantics.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File operations build on a measurable pre-training prior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interface-p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981" y="950976"/>
            <a:ext cx="81029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315968"/>
            <a:ext cx="73152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2B628F"/>
                </a:solidFill>
                <a:latin typeface="Arial"/>
              </a:rPr>
              <a:t>code pre-training supplies the interface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INTERFACE PRIOR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Training mainly has to discover when to write, revise, retrieve, and reuse — not a new action language.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Learned memory transfers beyond the training Gym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transfer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70609"/>
            <a:ext cx="8275320" cy="30342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4233672"/>
            <a:ext cx="3529584" cy="393192"/>
          </a:xfrm>
          <a:prstGeom prst="roundRect">
            <a:avLst/>
          </a:prstGeom>
          <a:solidFill>
            <a:srgbClr val="DCEAF3"/>
          </a:solidFill>
          <a:ln w="12700">
            <a:solidFill>
              <a:srgbClr val="2B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15968"/>
            <a:ext cx="352958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B628F"/>
                </a:solidFill>
                <a:latin typeface="Arial"/>
              </a:rPr>
              <a:t>CAMG-RL-4B: 15.8 / 4.5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28032" y="4233672"/>
            <a:ext cx="3529584" cy="393192"/>
          </a:xfrm>
          <a:prstGeom prst="roundRect">
            <a:avLst/>
          </a:prstGeom>
          <a:solidFill>
            <a:srgbClr val="F8E5E8"/>
          </a:solidFill>
          <a:ln w="12700">
            <a:solidFill>
              <a:srgbClr val="C8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4315968"/>
            <a:ext cx="352958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C8192E"/>
                </a:solidFill>
                <a:latin typeface="Arial"/>
              </a:rPr>
              <a:t>CAMG-RL-9B: 27.6 / 9.1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EXTERNAL TRANSFER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The 4B and 9B policies are competitive with much larger frozen Qwen3.5 models on the paired benchmarks.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Memory-action credit and general files both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  <p:pic>
        <p:nvPicPr>
          <p:cNvPr id="6" name="Picture 5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066739"/>
            <a:ext cx="8101583" cy="30786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" y="4279392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55555"/>
                </a:solidFill>
                <a:latin typeface="Arial"/>
              </a:rPr>
              <a:t>w/o memory-action gradients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4279392"/>
            <a:ext cx="192024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55555"/>
                </a:solidFill>
                <a:latin typeface="Arial"/>
              </a:rPr>
              <a:t>continuation file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4279392"/>
            <a:ext cx="149961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B628F"/>
                </a:solidFill>
                <a:latin typeface="Arial"/>
              </a:rPr>
              <a:t>full CAMG-RL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FIGURE 4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Average success: 54.4% full; 21.1% without memory-action gradients; 41.8% when retrained with continuation-only memory.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Changing saved memory content reduces later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42415"/>
            <a:ext cx="777240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11111"/>
                </a:solidFill>
                <a:latin typeface="Arial"/>
              </a:rPr>
              <a:t>Intervene at the first context replacement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55555"/>
                </a:solidFill>
                <a:latin typeface="Arial"/>
              </a:rPr>
              <a:t>Continue the trajectory after replacing the saved files.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68296"/>
            <a:ext cx="288036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Blank memory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7328" y="2313432"/>
            <a:ext cx="4114800" cy="438912"/>
          </a:xfrm>
          <a:prstGeom prst="rect">
            <a:avLst/>
          </a:prstGeom>
          <a:solidFill>
            <a:srgbClr val="F8E5E8"/>
          </a:solidFill>
          <a:ln w="8890">
            <a:solidFill>
              <a:srgbClr val="C8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4487" y="2386584"/>
            <a:ext cx="38404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C8192E"/>
                </a:solidFill>
                <a:latin typeface="Arial"/>
              </a:rPr>
              <a:t>−14.1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09544"/>
            <a:ext cx="288036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Task-mismatched 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328" y="3154680"/>
            <a:ext cx="3355848" cy="438912"/>
          </a:xfrm>
          <a:prstGeom prst="rect">
            <a:avLst/>
          </a:prstGeom>
          <a:solidFill>
            <a:srgbClr val="F8E5E8"/>
          </a:solidFill>
          <a:ln w="8890">
            <a:solidFill>
              <a:srgbClr val="C8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4487" y="3227832"/>
            <a:ext cx="308152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C8192E"/>
                </a:solidFill>
                <a:latin typeface="Arial"/>
              </a:rPr>
              <a:t>−11.5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14800"/>
            <a:ext cx="76809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Average success-rate change from the matched original-memory condition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APPENDIX D.3 · FIGURE 8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The largest drop occurs in Shop. Saved content affects subsequent task decisions.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A coding episode makes the memory chain visible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coding-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245" y="886968"/>
            <a:ext cx="7822085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663440"/>
            <a:ext cx="80924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8192E"/>
                </a:solidFill>
                <a:latin typeface="Arial"/>
              </a:rPr>
              <a:t>FIGURE 5 · TRAINING CASE  </a:t>
            </a:r>
            <a:r>
              <a:rPr sz="1000" b="0" i="0">
                <a:solidFill>
                  <a:srgbClr val="555555"/>
                </a:solidFill>
                <a:latin typeface="Arial"/>
              </a:rPr>
              <a:t>Reproduce, patch, save before context replacement, read back, verify, and submit.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10312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111111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5008" y="182880"/>
            <a:ext cx="69494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55555"/>
                </a:solidFill>
                <a:latin typeface="Arial"/>
              </a:rPr>
              <a:t>JD.com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" y="676656"/>
            <a:ext cx="8449056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77072" y="4754880"/>
            <a:ext cx="2286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8A8A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32688"/>
            <a:ext cx="49377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C819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914400"/>
            <a:ext cx="6903720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CAMG turns long-horizon memory into a testable, multi-domain RL environment suite.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1527048"/>
            <a:ext cx="7772400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1874519"/>
            <a:ext cx="49377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C8192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1856231"/>
            <a:ext cx="6903720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CAMG-RL learns to use ordinary files as memory through downstream task reward.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468880"/>
            <a:ext cx="7772400" cy="0"/>
          </a:xfrm>
          <a:prstGeom prst="line">
            <a:avLst/>
          </a:prstGeom>
          <a:ln w="1016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2816352"/>
            <a:ext cx="49377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C8192E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2798064"/>
            <a:ext cx="6903720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A small post-trained policy can transfer this behavior to external agent benchmarks.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40480"/>
            <a:ext cx="7772400" cy="658368"/>
          </a:xfrm>
          <a:prstGeom prst="roundRect">
            <a:avLst/>
          </a:prstGeom>
          <a:solidFill>
            <a:srgbClr val="DCEAF3"/>
          </a:solidFill>
          <a:ln w="12700">
            <a:solidFill>
              <a:srgbClr val="2B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986784"/>
            <a:ext cx="777240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2B628F"/>
                </a:solidFill>
                <a:latin typeface="Arial"/>
              </a:rPr>
              <a:t>Files are not just artifacts. They are memory.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681728"/>
            <a:ext cx="45720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8A8A8A"/>
                </a:solidFill>
                <a:latin typeface="Arial"/>
              </a:rPr>
              <a:t>Coding Agent Memory Post-training · arXiv:2609.34422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Coding Agent Memory Post-training</dc:title>
  <dc:subject>Public paper talk · arXiv:2609.34422v1</dc:subject>
  <dc:creator>Lirui Luo et al. · JD.com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